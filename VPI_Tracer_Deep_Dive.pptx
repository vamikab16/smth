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Cone size (signals)</c:v>
                </c:pt>
              </c:strCache>
            </c:strRef>
          </c:tx>
          <c:spPr>
            <a:solidFill>
              <a:srgbClr val="3D4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43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Intra-module
only</c:v>
                  </c:pt>
                  <c:pt idx="1">
                    <c:v>+ Port
hops</c:v>
                  </c:pt>
                  <c:pt idx="2">
                    <c:v>+ Guard
edges</c:v>
                  </c:pt>
                  <c:pt idx="3">
                    <c:v>+ Clock &amp;
primitive</c:v>
                  </c:pt>
                  <c:pt idx="4">
                    <c:v>VDT
reference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11</c:v>
                </c:pt>
                <c:pt idx="2">
                  <c:v>29</c:v>
                </c:pt>
                <c:pt idx="3">
                  <c:v>39</c:v>
                </c:pt>
                <c:pt idx="4">
                  <c:v>40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C243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38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12700" cap="flat">
              <a:solidFill>
                <a:srgbClr val="E5E3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6738A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15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mission, not the code. The tool answers one question live, inside the simulator, with no waveform database. Everything in the deck serves that single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mission. The cone is everything that feeds the target. VDT answers from a recorded database; we answer live from the simulator’s own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deliverable, two routes. The value is a faster, database-free path — and we validate it against VDT rather than trusting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most important mental model: build once, record during the run, report at the end. Every function slots into one of these three phases, and the globals are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spine. Keep it in mind — every following slide zooms into one box on this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vpi_register_cb is the core subscription primitive: give it an event reason and a function pointer, and the simulator calls you back at that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Nine steps in a fixed order because each depends on the last. Every [TRACER] line in the log is one of these steps announcing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fan-in trace must stop at flop outputs, otherwise it crosses clock edges and the cone explodes.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where most of the engineering effort went, and the single reason the tool works on real RTL.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Assignments are rarely a = b. This recursive descent visits every node type and is reused everywhere, which kept later features small.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port fix alone took the cone from 2 signals to 11 on the udp-primitive testbench.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 tagging was deliberately scoped to the label so it could not regress any other testbench.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rules keep it honest — stop at flop outputs, and record cycles instead of looping.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Scoped watching is what keeps the history buffer bounded and relevant.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lean streams answering different questions — what vs which-line — cross-referenced only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data, two audiences: JSON for regression automation, HTML for people and reviews.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staged growth is the clearest evidence that the five edge sources are the right decomposition — each one switched on adds a measurable, explainable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ideas define the tool. Around them sit small disciplines that individually look minor but together make it reliable inside a live simulator.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audience remembers one sentence, make it the band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proof: live, database-free, and validated against VDT rather than trusted.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283244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2491740"/>
            <a:ext cx="0" cy="1874520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" y="2716682"/>
            <a:ext cx="0" cy="1424635"/>
          </a:xfrm>
          <a:prstGeom prst="line">
            <a:avLst/>
          </a:prstGeom>
          <a:noFill/>
          <a:ln w="40640">
            <a:solidFill>
              <a:srgbClr val="AEB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53896" y="2887639"/>
            <a:ext cx="0" cy="1082723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37944" y="3017565"/>
            <a:ext cx="0" cy="822869"/>
          </a:xfrm>
          <a:prstGeom prst="line">
            <a:avLst/>
          </a:prstGeom>
          <a:noFill/>
          <a:ln w="40640">
            <a:solidFill>
              <a:srgbClr val="AEBAC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21992" y="3116310"/>
            <a:ext cx="0" cy="625381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06040" y="3191355"/>
            <a:ext cx="0" cy="475289"/>
          </a:xfrm>
          <a:prstGeom prst="line">
            <a:avLst/>
          </a:prstGeom>
          <a:noFill/>
          <a:ln w="40640">
            <a:solidFill>
              <a:srgbClr val="AEB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90088" y="3248390"/>
            <a:ext cx="0" cy="361220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74136" y="3291736"/>
            <a:ext cx="0" cy="274527"/>
          </a:xfrm>
          <a:prstGeom prst="line">
            <a:avLst/>
          </a:prstGeom>
          <a:noFill/>
          <a:ln w="40640">
            <a:solidFill>
              <a:srgbClr val="AEB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758184" y="3324680"/>
            <a:ext cx="0" cy="208641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42232" y="3349717"/>
            <a:ext cx="0" cy="158567"/>
          </a:xfrm>
          <a:prstGeom prst="line">
            <a:avLst/>
          </a:prstGeom>
          <a:noFill/>
          <a:ln w="40640">
            <a:solidFill>
              <a:srgbClr val="AEB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3368745"/>
            <a:ext cx="0" cy="120511"/>
          </a:xfrm>
          <a:prstGeom prst="line">
            <a:avLst/>
          </a:prstGeom>
          <a:noFill/>
          <a:ln w="40640">
            <a:solidFill>
              <a:srgbClr val="5A6E9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23360" y="3429000"/>
            <a:ext cx="1097280" cy="0"/>
          </a:xfrm>
          <a:prstGeom prst="line">
            <a:avLst/>
          </a:prstGeom>
          <a:noFill/>
          <a:ln w="12700">
            <a:solidFill>
              <a:srgbClr val="8FA0B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0" y="1554480"/>
            <a:ext cx="5943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VPI Signal and Fan-In Tracer</a:t>
            </a:r>
            <a:endParaRPr lang="en-US" sz="4000" dirty="0"/>
          </a:p>
        </p:txBody>
      </p:sp>
      <p:sp>
        <p:nvSpPr>
          <p:cNvPr id="16" name="Text 14"/>
          <p:cNvSpPr txBox="1"/>
          <p:nvPr/>
        </p:nvSpPr>
        <p:spPr>
          <a:xfrm>
            <a:off x="5669280" y="370332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technical deep dive into how the tracer reconstructs a signal’s driver cone live inside Xcelium — no waveform database.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0" y="4846320"/>
            <a:ext cx="1463040" cy="0"/>
          </a:xfrm>
          <a:prstGeom prst="line">
            <a:avLst/>
          </a:prstGeom>
          <a:noFill/>
          <a:ln w="25400">
            <a:solidFill>
              <a:srgbClr val="3D4F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50749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AT START  ·  RECORD DURING RUN  ·  REPORT AT END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Question We Answer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0292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54480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“For one signal at one moment in a simulation, what drove it, with what value, from which source line?”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5029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backward dependency set is the signal’s fan-in cone.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self-contained VPI shared library, loaded into Xcelium with -loadvpi.</a:t>
            </a:r>
            <a:endParaRPr lang="en-US" sz="12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walks the design, records activity, and writes trace_output.json plus an interactive HTML report.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943600" y="1417320"/>
            <a:ext cx="56692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0" y="1627632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2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FAN-IN CONE OF 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355080" y="22860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91656" y="2286000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55080" y="32004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91656" y="3200400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55080" y="4114800"/>
            <a:ext cx="141732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91656" y="4114800"/>
            <a:ext cx="134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1'b0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458200" y="32004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494776" y="3200400"/>
            <a:ext cx="12527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DFF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241280" y="3200400"/>
            <a:ext cx="1051560" cy="566928"/>
          </a:xfrm>
          <a:prstGeom prst="roundRect">
            <a:avLst>
              <a:gd name="adj" fmla="val 12903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277856" y="3200400"/>
            <a:ext cx="978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0" y="2569464"/>
            <a:ext cx="685800" cy="722376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772400" y="3483864"/>
            <a:ext cx="68580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V="1">
            <a:off x="7772400" y="3675888"/>
            <a:ext cx="685800" cy="722376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784080" y="3483864"/>
            <a:ext cx="45720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7772400" y="23042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0" y="32186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4133088"/>
            <a:ext cx="685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309360" y="4983480"/>
            <a:ext cx="4937760" cy="0"/>
          </a:xfrm>
          <a:prstGeom prst="line">
            <a:avLst/>
          </a:prstGeom>
          <a:noFill/>
          <a:ln w="12700">
            <a:solidFill>
              <a:srgbClr val="E5E3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72200" y="516636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walks BACKWARD from q — the arrows show drive direction, the search runs against them.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ANSWER THE SAME QUESTION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VDT Versus the Live VPI Path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740664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2743200"/>
                <a:gridCol w="2743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F1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VDT (Verisium Driver Tracer)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4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tool (live VPI)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F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source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Recorded SmartLogWaves.db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running simulator, during xrun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 it runs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simulation finishes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inside the simulation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Prerequisite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Waveform database must exist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— just -loadvpi the .so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discovery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Comes free from the database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Reconstructed from the design tree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cone + roles + source 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cone + roles + source lines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C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 on udp-primitive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signals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66738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 signals — roles match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463040"/>
            <a:ext cx="329184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627632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40</a:t>
            </a:r>
            <a:endParaRPr lang="en-US" sz="4200" dirty="0"/>
          </a:p>
        </p:txBody>
      </p:sp>
      <p:sp>
        <p:nvSpPr>
          <p:cNvPr id="7" name="Text 4"/>
          <p:cNvSpPr txBox="1"/>
          <p:nvPr/>
        </p:nvSpPr>
        <p:spPr>
          <a:xfrm>
            <a:off x="8503920" y="243230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reproduced against the VDT reference cone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321040" y="324612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321040" y="33375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</p:txBody>
      </p:sp>
      <p:sp>
        <p:nvSpPr>
          <p:cNvPr id="10" name="Text 7"/>
          <p:cNvSpPr txBox="1"/>
          <p:nvPr/>
        </p:nvSpPr>
        <p:spPr>
          <a:xfrm>
            <a:off x="8503920" y="40050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databases required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321040" y="4709160"/>
            <a:ext cx="329184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486460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/ DATA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503920" y="5376672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labels match VDT exactly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MODEL FOR EVERYTHING THAT FOLLOWS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Three Phases Around Shared 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276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395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start of simulation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6974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the design tree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signals, driver graph, flop/clock boundaries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target, compute the cone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 to two run-time events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23944" y="2697480"/>
            <a:ext cx="25603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34840" y="141732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6276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634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395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the run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26974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Value-change callback fills the value history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callback records which line wrote what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 path: no allocation, O(1) append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10144" y="2697480"/>
            <a:ext cx="25603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321040" y="1417320"/>
            <a:ext cx="352044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162763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16276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1993392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8549640" y="239572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end of simulation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2697480"/>
            <a:ext cx="306324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buffers back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JSON for automation</a:t>
            </a:r>
            <a:endParaRPr lang="en-US" sz="1050" dirty="0"/>
          </a:p>
          <a:p>
            <a:pPr marL="342900" indent="-342900">
              <a:lnSpc>
                <a:spcPts val="14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 HTML for humans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283244"/>
          </a:solidFill>
          <a:ln w="12700">
            <a:solidFill>
              <a:srgbClr val="28324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459028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STATE — fixed static arrays, written by Phase 1, appended by Phase 2, read by Phase 3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22960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22960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g_signals[]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86584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86584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g_edge_*[]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50208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950208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g_flop_out[]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13832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513832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g_clock_names[]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077456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077456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g_records[]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8641080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641080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g_execs[]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204704" y="4983480"/>
            <a:ext cx="1481328" cy="475488"/>
          </a:xfrm>
          <a:prstGeom prst="roundRect">
            <a:avLst>
              <a:gd name="adj" fmla="val 15385"/>
            </a:avLst>
          </a:prstGeom>
          <a:solidFill>
            <a:srgbClr val="3A465B"/>
          </a:solidFill>
          <a:ln w="12700">
            <a:solidFill>
              <a:srgbClr val="4E5C7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204704" y="4983480"/>
            <a:ext cx="14813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g_cone_list[]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22960" y="5614416"/>
            <a:ext cx="10515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 is event-driven — you cannot ask for the past. The three-phase shape is forced by how simulators work, not chosen.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 OF THE TALK — EVERY LATER SLIDE IS ONE BOX ON THIS MAP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 to End Flow: The Exact Execution Order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26974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974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160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48640" y="52578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5257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148840" y="14904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85416" y="14904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vpi_tracer_bootstrap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61688" y="1773936"/>
            <a:ext cx="164592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26280" y="14904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62856" y="14904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register_callbacks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39128" y="1773936"/>
            <a:ext cx="164592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03720" y="14904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0296" y="14904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subscribes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cbStartOfSimulation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48840" y="2606040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185416" y="26060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collect_signals_in_scope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61688" y="2889504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26280" y="2606040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62856" y="26060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detect_flops_in_module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39128" y="2889504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03720" y="2606040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0296" y="260604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build_driver_graph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148840" y="3346704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185416" y="3346704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find_target_signal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361688" y="3630168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26280" y="3346704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62856" y="3346704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compute_cone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39128" y="3630168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903720" y="3346704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940296" y="3346704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watches + stmt cbs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48840" y="4069080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185416" y="406908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value_change_cb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26280" y="4069080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562856" y="4069080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stmt_exec_cb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6903720" y="41330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g_records[]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6903720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g_execs[]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148840" y="51480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185416" y="51480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end_of_sim_cb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61688" y="5431536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4526280" y="51480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62856" y="51480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trace_output.json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5148072"/>
            <a:ext cx="2212848" cy="566928"/>
          </a:xfrm>
          <a:prstGeom prst="roundRect">
            <a:avLst>
              <a:gd name="adj" fmla="val 12903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940296" y="5148072"/>
            <a:ext cx="21396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report.html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739128" y="5431536"/>
            <a:ext cx="164592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9144000" y="1490472"/>
            <a:ext cx="2468880" cy="4224528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281160" y="167335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IT TOP TO BOTTOM</a:t>
            </a:r>
            <a:endParaRPr lang="en-US" sz="950" dirty="0"/>
          </a:p>
        </p:txBody>
      </p:sp>
      <p:sp>
        <p:nvSpPr>
          <p:cNvPr id="52" name="Text 50"/>
          <p:cNvSpPr txBox="1"/>
          <p:nvPr/>
        </p:nvSpPr>
        <p:spPr>
          <a:xfrm>
            <a:off x="9281160" y="2011680"/>
            <a:ext cx="219456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simulator loads the library and calls our bootstrap.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bootstrap registers one start-of-sim callback.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callback does all setup and subscribes to two events.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events fill history during the run.</a:t>
            </a:r>
            <a:endParaRPr lang="en-US" sz="1000" dirty="0"/>
          </a:p>
          <a:p>
            <a:pPr marL="342900" indent="-342900">
              <a:lnSpc>
                <a:spcPts val="1300"/>
              </a:lnSpc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end, history becomes two reports.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HANDSHAKE BETWEEN THE SIMULATOR AND OUR CODE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Entry: Bootstrap and Callback Registration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25400">
            <a:solidFill>
              <a:srgbClr val="AEB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8952" y="2084832"/>
            <a:ext cx="137160" cy="137160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.so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279392" y="2084832"/>
            <a:ext cx="137160" cy="137160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1188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OF SIM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571232" y="2084832"/>
            <a:ext cx="137160" cy="137160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0372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0497312" y="2084832"/>
            <a:ext cx="137160" cy="137160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29800" y="17830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SIM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77440" y="2148840"/>
            <a:ext cx="1965960" cy="0"/>
          </a:xfrm>
          <a:prstGeom prst="line">
            <a:avLst/>
          </a:prstGeom>
          <a:noFill/>
          <a:ln w="317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2377440" y="2240280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now, run later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vpi_tracer_bootstrap()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symbol named after the colon on the -loadvpi command line.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3767328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it does is run the startup table.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entry point trivial, so real logic lives in normal, testable callbacks.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the .so loads and nothing ever runs.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309360" y="2788920"/>
            <a:ext cx="530352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29718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register_callbacks()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83680" y="331012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Subscribes the one callback we can legally register at load time.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767328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memset the callback struct first — stale stack bytes become garbage fields.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= cbStartOfSimulation, cb_rtn = start_of_sim_cb.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it: setup never runs; the tool does nothing.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598932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wait for start-of-sim? At load time the design is not yet elaborated — signals and modules do not exist to query.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START_OF_SIM_CB IS THE CONDUCTOR — NINE ORDERED STEPS, EACH DEPENDING ON THE LAST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1: The Master Setup Sequence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664208"/>
            <a:ext cx="420624" cy="420624"/>
          </a:xfrm>
          <a:prstGeom prst="ellipse">
            <a:avLst/>
          </a:prstGeom>
          <a:solidFill>
            <a:srgbClr val="66738A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the environment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1298448" y="19751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Target, query time, debug, time-gating — configurable without recompiling the .so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96512" y="2112264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325112" y="1463040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64208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26280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7492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collect_signals_in_scope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074920" y="19751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inventory of every signal in the hierarchy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872984" y="2112264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8101584" y="1463040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1664208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02752" y="1664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851392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detect_flops_in_module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851392" y="197510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names and flop outputs — the stop boundaries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2962656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9808" y="3163824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9808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298448" y="3163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build_driver_graph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298448" y="3474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 every driver edge in the design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096512" y="3611880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25112" y="2962656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26280" y="3163824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526280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074920" y="3163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find_target_signal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074920" y="3474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requested signal to a handle and full name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872984" y="3611880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101584" y="2962656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302752" y="3163824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302752" y="31638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851392" y="3163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compute_cone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851392" y="3474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BFS — you cannot do this before the graph exists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446227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49808" y="4663440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749808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298448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register_cone_watches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1298448" y="497433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watch cone signals before you know the cone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96512" y="5111496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4325112" y="446227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4663440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526280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5074920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register_stmt_cbs_design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5074920" y="497433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 every procedural assignment for writer attribution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7872984" y="5111496"/>
            <a:ext cx="201168" cy="0"/>
          </a:xfrm>
          <a:prstGeom prst="line">
            <a:avLst/>
          </a:prstGeom>
          <a:noFill/>
          <a:ln w="19050">
            <a:solidFill>
              <a:srgbClr val="AEBAC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101584" y="4462272"/>
            <a:ext cx="3520440" cy="1298448"/>
          </a:xfrm>
          <a:prstGeom prst="roundRect">
            <a:avLst>
              <a:gd name="adj" fmla="val 422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2752" y="4663440"/>
            <a:ext cx="420624" cy="420624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8302752" y="4663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8851392" y="466344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arm end_of_sim_cb</a:t>
            </a:r>
            <a:endParaRPr lang="en-US" sz="1050" dirty="0"/>
          </a:p>
        </p:txBody>
      </p:sp>
      <p:sp>
        <p:nvSpPr>
          <p:cNvPr id="54" name="Text 52"/>
          <p:cNvSpPr txBox="1"/>
          <p:nvPr/>
        </p:nvSpPr>
        <p:spPr>
          <a:xfrm>
            <a:off x="8851392" y="497433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last, so the report runs after everything is set up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PASSES THAT EVERYTHING ELSE DEPENDS ON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Signal Inventory and Sequential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collect_signals_in_scope()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868680" y="21031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05256" y="210312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vpiNet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359152"/>
            <a:ext cx="822960" cy="704088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868680" y="27889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05256" y="278892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vpiReg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71800" y="3044952"/>
            <a:ext cx="822960" cy="18288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347472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05256" y="3474720"/>
            <a:ext cx="1984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615  vpiVariables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 flipV="1">
            <a:off x="2971800" y="3063240"/>
            <a:ext cx="822960" cy="667512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94760" y="27889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831336" y="2788920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g_signals[]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401568"/>
            <a:ext cx="1965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de-duplicated by full name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68680" y="4206240"/>
            <a:ext cx="4846320" cy="1600200"/>
          </a:xfrm>
          <a:prstGeom prst="roundRect">
            <a:avLst>
              <a:gd name="adj" fmla="val 3429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51560" y="4370832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 and regs alone MISS SystemVerilog 2-state types — bit, int, byte are invisible to those iterators. Xcelium exposes them under vpiVariables (code 615).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532180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the “why is my signal untraceable” bug class.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09360" y="1417320"/>
            <a:ext cx="53035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446520" y="160020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detect_flops_in_module()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29400" y="214884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665976" y="2148840"/>
            <a:ext cx="4590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always_ff @(posedge clk)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 @() with posedge / negedge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61120" y="3044952"/>
            <a:ext cx="0" cy="384048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629400" y="345643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665976" y="34564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g_clock_names[]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098280" y="3456432"/>
            <a:ext cx="2194560" cy="566928"/>
          </a:xfrm>
          <a:prstGeom prst="roundRect">
            <a:avLst>
              <a:gd name="adj" fmla="val 12903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134856" y="3456432"/>
            <a:ext cx="2121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g_flop_out[]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629400" y="4572000"/>
            <a:ext cx="4663440" cy="0"/>
          </a:xfrm>
          <a:prstGeom prst="line">
            <a:avLst/>
          </a:prstGeom>
          <a:noFill/>
          <a:ln w="12700">
            <a:solidFill>
              <a:srgbClr val="E5E3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29400" y="4892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65976" y="4892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001000" y="5166360"/>
            <a:ext cx="5486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549640" y="4892040"/>
            <a:ext cx="137160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86216" y="4892040"/>
            <a:ext cx="12984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058400" y="4754880"/>
            <a:ext cx="0" cy="822960"/>
          </a:xfrm>
          <a:prstGeom prst="line">
            <a:avLst/>
          </a:prstGeom>
          <a:noFill/>
          <a:ln w="25400">
            <a:solidFill>
              <a:srgbClr val="B4443C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195560" y="4892040"/>
            <a:ext cx="10972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32136" y="4892040"/>
            <a:ext cx="1024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6629400" y="557784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cone STOPS here — flop outputs are boundary leaves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BUILD_DRIVER_GRAPH() — THE INTELLECTUAL CORE OF THE TOOL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Reconstructing Drivers Ourselves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14400"/>
          </a:xfrm>
          <a:prstGeom prst="roundRect">
            <a:avLst>
              <a:gd name="adj" fmla="val 6000"/>
            </a:avLst>
          </a:prstGeom>
          <a:solidFill>
            <a:srgbClr val="283244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41732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vpi_iterate(vpiDriver) returns NOTHING for behavioural RTL — so the driver graph is something we build, not something we query.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752344"/>
            <a:ext cx="384048" cy="38404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697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assigns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98094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vpiContAssign → RHS into LHS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074920" y="2944368"/>
            <a:ext cx="1234440" cy="1033272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3401568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47872"/>
            <a:ext cx="384048" cy="38404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49808" y="35478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4930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Procedural blocks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280160" y="377647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every statement tree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74920" y="3739896"/>
            <a:ext cx="1234440" cy="237744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8640" y="4197096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" y="4343400"/>
            <a:ext cx="384048" cy="38404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49808" y="4343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280160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conditions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57200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case / @() → enable, reset, clock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flipV="1">
            <a:off x="5074920" y="3977640"/>
            <a:ext cx="1234440" cy="557784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48640" y="4992624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9808" y="5138928"/>
            <a:ext cx="384048" cy="38404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49808" y="51389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50840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ports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280160" y="53675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 across instance boundaries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 flipV="1">
            <a:off x="5074920" y="3977640"/>
            <a:ext cx="1234440" cy="1353312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48640" y="5788152"/>
            <a:ext cx="448056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5934456"/>
            <a:ext cx="384048" cy="384048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49808" y="5934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1280160" y="5879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&amp; UDP primitives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280160" y="616305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terminal ← input terminals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 flipV="1">
            <a:off x="5074920" y="3977640"/>
            <a:ext cx="1234440" cy="214884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355080" y="3703320"/>
            <a:ext cx="192024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391656" y="3703320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275320" y="3986784"/>
            <a:ext cx="50292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78240" y="2697480"/>
            <a:ext cx="2834640" cy="320040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2880360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g_edge_*[]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961120" y="3200400"/>
          <a:ext cx="2468880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234440"/>
              </a:tblGrid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dst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F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src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4F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clk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bus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3D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C243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rstn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3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" name="Text 39"/>
          <p:cNvSpPr txBox="1"/>
          <p:nvPr/>
        </p:nvSpPr>
        <p:spPr>
          <a:xfrm>
            <a:off x="8869680" y="5230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self-loops · de-duplicated · guard-stamped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PROCEDURAL RTL BECOMES GRAPH EDGES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Statement Walking and Expression Cracking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walk_stmt()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965960"/>
            <a:ext cx="47548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Copies the LHS name IMMEDIATELY — vpi_get_str hands back a shared buffer the next call overwrites.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blocking vs non-blocking (BA / NBA) for accurate reporting.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guard stack turns enclosing if / case / @() conditions into edges tagged CONTROL — so enables, resets and clocks appear the way VDT shows them.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13232" y="4114800"/>
            <a:ext cx="4791456" cy="1783080"/>
          </a:xfrm>
          <a:prstGeom prst="roundRect">
            <a:avLst>
              <a:gd name="adj" fmla="val 3077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4279392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(en)            → CONTROL edge</a:t>
            </a:r>
            <a:endParaRPr lang="en-US" sz="11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 &lt;= d;        → DATA edge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51389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statement, two different kinds of dependency — both belong in the cone.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0" y="1417320"/>
            <a:ext cx="56692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08192" y="160020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collect_rhs_signals() — the expression cracker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66760" y="201168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3336" y="2011680"/>
            <a:ext cx="12984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37376" y="278892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509760" y="278892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546336" y="278892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 flipH="1">
            <a:off x="7315200" y="2468880"/>
            <a:ext cx="1188720" cy="32004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601200" y="2468880"/>
            <a:ext cx="548640" cy="32004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92440" y="3611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129016" y="3611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0" y="3611880"/>
            <a:ext cx="13258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094976" y="3611880"/>
            <a:ext cx="12527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 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H="1">
            <a:off x="9052560" y="3246120"/>
            <a:ext cx="914400" cy="36576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332720" y="3246120"/>
            <a:ext cx="274320" cy="36576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46520" y="4434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83096" y="4434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726680" y="4434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63256" y="4434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006840" y="4434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875">
            <a:solidFill>
              <a:srgbClr val="C9C6C0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043416" y="4434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4'd0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287000" y="443484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10323576" y="4434840"/>
            <a:ext cx="10241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 flipH="1">
            <a:off x="7223760" y="4069080"/>
            <a:ext cx="1097280" cy="36576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 flipH="1">
            <a:off x="8138160" y="4069080"/>
            <a:ext cx="457200" cy="36576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07040" y="4069080"/>
            <a:ext cx="182880" cy="36576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7" name="Text 35"/>
          <p:cNvSpPr txBox="1"/>
          <p:nvPr/>
        </p:nvSpPr>
        <p:spPr>
          <a:xfrm>
            <a:off x="6108192" y="5166360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→ edges   ·   operators &amp; calls → recurse   ·   part-selects → parent vector   ·   constants → skipped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6108192" y="5440680"/>
            <a:ext cx="5340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recursive descent, reused for right-hand sides, guards AND port connections — which is why those were small additions.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SMALL FUNCTIONS THAT DECIDE WHETHER THE CONE MATCHES VDT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Crossing Boundaries: Edges, Ports and Primitives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03504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572768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collect_port_edges() — hopping a module boundary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5394960" cy="2331720"/>
          </a:xfrm>
          <a:prstGeom prst="roundRect">
            <a:avLst>
              <a:gd name="adj" fmla="val 2353"/>
            </a:avLst>
          </a:prstGeom>
          <a:solidFill>
            <a:srgbClr val="F2F1E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05840" y="20574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module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2468880"/>
            <a:ext cx="2788920" cy="1600200"/>
          </a:xfrm>
          <a:prstGeom prst="roundRect">
            <a:avLst>
              <a:gd name="adj" fmla="val 3429"/>
            </a:avLst>
          </a:prstGeom>
          <a:solidFill>
            <a:srgbClr val="E5E3D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37560" y="25603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sub-instance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97280" y="2971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3856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outer_wire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520440" y="2971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557016" y="2971800"/>
            <a:ext cx="12984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inner_net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3227832"/>
            <a:ext cx="105156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1188720" y="3529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vpiHighConn</a:t>
            </a:r>
            <a:endParaRPr lang="en-US" sz="850" dirty="0"/>
          </a:p>
        </p:txBody>
      </p:sp>
      <p:sp>
        <p:nvSpPr>
          <p:cNvPr id="16" name="Text 14"/>
          <p:cNvSpPr txBox="1"/>
          <p:nvPr/>
        </p:nvSpPr>
        <p:spPr>
          <a:xfrm>
            <a:off x="3611880" y="352958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vpiLowConn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5295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decides orientation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58000" y="1417320"/>
            <a:ext cx="475488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22592" y="15727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collect_primitive_edges() — gate &amp; UDP terminals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132320" y="233172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68896" y="233172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132320" y="30632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68896" y="3063240"/>
            <a:ext cx="11612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rstn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869680" y="265176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06256" y="2651760"/>
            <a:ext cx="12984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dff_udp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515600" y="2697480"/>
            <a:ext cx="960120" cy="566928"/>
          </a:xfrm>
          <a:prstGeom prst="roundRect">
            <a:avLst>
              <a:gd name="adj" fmla="val 12903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0552176" y="2697480"/>
            <a:ext cx="886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366760" y="2560320"/>
            <a:ext cx="502920" cy="27432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V="1">
            <a:off x="8366760" y="3063240"/>
            <a:ext cx="502920" cy="22860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241280" y="2990088"/>
            <a:ext cx="27432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022592" y="379476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vpiPrimTerm → vpiExpr gives the net wired to each terminal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7022592" y="406908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how the clock generator traces back to clk and rstn.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470916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77240" y="48646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add_edge() — the invariant that keeps the graph clean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7240" y="5193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Skips self-loops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77724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Xcelium sometimes resolves the same handle for both sides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3520440" y="5193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De-duplicates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352044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cone and report readable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263640" y="5193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Stamps the branch guard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26364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time-gated pruning later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9006840" y="519379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no VPI at all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00684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data, so the hot path stays cheap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SUPPORTING PASSES BEFORE THE CONE IS COMPUTED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Tagging and Target Resolution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13232" y="1600200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add_control_name() — label-only, safe by construction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22960" y="21488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9536" y="2148840"/>
            <a:ext cx="20299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(en) / case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26080" y="2423160"/>
            <a:ext cx="64008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66160" y="2148840"/>
            <a:ext cx="21945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02736" y="2148840"/>
            <a:ext cx="2121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g_control_names[]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30175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68880" y="3200400"/>
            <a:ext cx="73152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3291840" y="2999232"/>
            <a:ext cx="1554480" cy="420624"/>
          </a:xfrm>
          <a:prstGeom prst="roundRect">
            <a:avLst>
              <a:gd name="adj" fmla="val 43478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291840" y="29992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3703320"/>
            <a:ext cx="49377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in a set SEPARATE from the real clock list, so real-clock semantics stay intact.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 the label only — never the cone, the edges, or the values.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that it cannot change results on any other testbench.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1417320"/>
            <a:ext cx="530352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73952" y="160020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find_target_signal() — three ways to resolve a name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92240" y="214884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28816" y="21488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lookup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28254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vpi_handle_by_name on the full path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915400" y="2478024"/>
            <a:ext cx="777240" cy="1088136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306324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28816" y="30632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&amp; match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537960" y="37398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full name, dotted suffix, or leaf name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915400" y="3392424"/>
            <a:ext cx="777240" cy="173736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492240" y="3977640"/>
            <a:ext cx="2377440" cy="658368"/>
          </a:xfrm>
          <a:prstGeom prst="roundRect">
            <a:avLst>
              <a:gd name="adj" fmla="val 1111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28816" y="3977640"/>
            <a:ext cx="2304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Bit-select fallback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46542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73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split sig[N] → vpi_handle_by_index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 flipV="1">
            <a:off x="8915400" y="3566160"/>
            <a:ext cx="777240" cy="740664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3291840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729216" y="3291840"/>
            <a:ext cx="17099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g_target_full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9692640" y="40050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seed of the cone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6473952" y="5394960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type whatever is convenient — the resolver makes all three work.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COMPUTE_CONE() — SIMPLE, BECAUSE THE HARD WORK WAS BUILDING A CORRECT GRAPH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Backward Breadth-First Search With Boundaries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676656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331720" y="2391156"/>
            <a:ext cx="3200400" cy="2624328"/>
          </a:xfrm>
          <a:prstGeom prst="ellipse">
            <a:avLst/>
          </a:prstGeom>
          <a:solidFill>
            <a:srgbClr val="FAFAF9"/>
          </a:solidFill>
          <a:ln w="12700">
            <a:solidFill>
              <a:srgbClr val="AEBACB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2766060" y="2747315"/>
            <a:ext cx="2331720" cy="1912010"/>
          </a:xfrm>
          <a:prstGeom prst="ellipse">
            <a:avLst/>
          </a:prstGeom>
          <a:solidFill>
            <a:srgbClr val="E5E3DF"/>
          </a:solidFill>
          <a:ln w="12700">
            <a:solidFill>
              <a:srgbClr val="AEBAC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3200400" y="3103474"/>
            <a:ext cx="1463040" cy="1199693"/>
          </a:xfrm>
          <a:prstGeom prst="ellipse">
            <a:avLst/>
          </a:prstGeom>
          <a:solidFill>
            <a:srgbClr val="DCD9D3"/>
          </a:solidFill>
          <a:ln w="12700">
            <a:solidFill>
              <a:srgbClr val="AEBAC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3429000" y="3465576"/>
            <a:ext cx="1005840" cy="475488"/>
          </a:xfrm>
          <a:prstGeom prst="roundRect">
            <a:avLst>
              <a:gd name="adj" fmla="val 15385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65576" y="3465576"/>
            <a:ext cx="932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194560" y="283464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231136" y="283464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54880" y="283464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91456" y="283464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783080" y="4206240"/>
            <a:ext cx="96012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5875">
            <a:solidFill>
              <a:srgbClr val="66738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19656" y="4206240"/>
            <a:ext cx="886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0" y="4206240"/>
            <a:ext cx="1143000" cy="411480"/>
          </a:xfrm>
          <a:prstGeom prst="rect">
            <a:avLst/>
          </a:prstGeom>
          <a:solidFill>
            <a:srgbClr val="3A465B"/>
          </a:solidFill>
          <a:ln w="12700">
            <a:solidFill>
              <a:srgbClr val="3A46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029200" y="4206240"/>
            <a:ext cx="1143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flop_q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154680" y="3063240"/>
            <a:ext cx="502920" cy="384048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4251960" y="3063240"/>
            <a:ext cx="502920" cy="384048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 flipV="1">
            <a:off x="2560320" y="3246120"/>
            <a:ext cx="182880" cy="100584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 flipV="1">
            <a:off x="4480560" y="3922776"/>
            <a:ext cx="548640" cy="438912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4892040" y="465429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not expanded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562356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Rings = BFS depth levels, which map straight onto the HTML report tree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89520" y="1417320"/>
            <a:ext cx="4023360" cy="466344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0" y="16276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RULES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772400" y="2029968"/>
            <a:ext cx="310896" cy="310896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77240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183880" y="2011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edges backward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183880" y="228600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whose dst is the current node yields a source dependency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3035808"/>
            <a:ext cx="310896" cy="310896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0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3017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flop outputs</a:t>
            </a:r>
            <a:endParaRPr lang="en-US" sz="1150" dirty="0"/>
          </a:p>
        </p:txBody>
      </p:sp>
      <p:sp>
        <p:nvSpPr>
          <p:cNvPr id="33" name="Text 31"/>
          <p:cNvSpPr txBox="1"/>
          <p:nvPr/>
        </p:nvSpPr>
        <p:spPr>
          <a:xfrm>
            <a:off x="8183880" y="32918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as a leaf, never expanded — we do not cross the clock edge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4041648"/>
            <a:ext cx="310896" cy="310896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0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40233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cycles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8183880" y="429768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edge back to the target is logged, not looped forever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772400" y="5047488"/>
            <a:ext cx="310896" cy="310896"/>
          </a:xfrm>
          <a:prstGeom prst="ellipse">
            <a:avLst/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777240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5029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visited nodes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8183880" y="53035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search finite and the cone clean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7589520" y="621792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over DFS: it gives natural depth levels.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SUBSCRIPTIONS THAT SET UP EVERYTHING PHASE 2 WILL RECORD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Registering the Run-Time Watches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register_cone_watches()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93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cbValueChange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233172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target, every cone signal, and every clock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2450592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cone + clocks are watched — watching the whole design would flood the buffer and hit its cap.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heap-allocated copy of the name rides along in user_data, because it must outlive the registering call.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how one shared callback knows WHICH signal fired.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417320"/>
            <a:ext cx="530352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62763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register_stmt_cbs_design()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0" y="1993392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0" y="1993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cbStmt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99339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procedural assignment in the design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2450592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recursion must enumerate every container type — begin blocks, if/else, case, loops, fork.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 one container and those writes are invisible to writer attribution.</a:t>
            </a:r>
            <a:endParaRPr lang="en-US" sz="1150" dirty="0"/>
          </a:p>
          <a:p>
            <a:pPr marL="342900" indent="-342900">
              <a:lnSpc>
                <a:spcPts val="1700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the instant a statement executes, giving file, line and value.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544068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566928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65960" y="5614416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02536" y="561441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0" y="5614416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236976" y="561441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 sig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434840" y="5614416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71416" y="561441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 sig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669280" y="5614416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705856" y="561441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 sig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5614416"/>
            <a:ext cx="1097280" cy="402336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940296" y="5614416"/>
            <a:ext cx="10241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614416"/>
            <a:ext cx="3108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everything else in the design — deliberately not watched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THE RUN THE TOOL DOES EXACTLY TWO THINGS — AND BOTH ARE RECORDERS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2: Two Recorders, One Purpose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276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value_change_cb()  →  g_records[]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653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signal became, and WHEN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77240" y="219456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E5E3D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194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t=100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84248" y="219456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E5E3D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984248" y="2194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t=150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91256" y="219456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E8DED6"/>
          </a:solidFill>
          <a:ln w="12700">
            <a:solidFill>
              <a:srgbClr val="B444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191256" y="2194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t=250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98264" y="2194560"/>
            <a:ext cx="1097280" cy="658368"/>
          </a:xfrm>
          <a:prstGeom prst="roundRect">
            <a:avLst>
              <a:gd name="adj" fmla="val 8333"/>
            </a:avLst>
          </a:prstGeom>
          <a:solidFill>
            <a:srgbClr val="E8DED6"/>
          </a:solidFill>
          <a:ln w="12700">
            <a:solidFill>
              <a:srgbClr val="B444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98264" y="2194560"/>
            <a:ext cx="1097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t=250</a:t>
            </a:r>
            <a:endParaRPr lang="en-US" sz="90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29260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changes at ONE tick = a glitch (the delta counter)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12064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368503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stmt_exec_cb()  →  g_execs[]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92277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LINE wrote it, and with what value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77240" y="425196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E5E3D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2519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rtl.sv:41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0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386584" y="425196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DDE3EC"/>
          </a:solidFill>
          <a:ln w="19050">
            <a:solidFill>
              <a:srgbClr val="3D4F6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386584" y="42519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rtl.sv:58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1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995928" y="4251960"/>
            <a:ext cx="1508760" cy="658368"/>
          </a:xfrm>
          <a:prstGeom prst="roundRect">
            <a:avLst>
              <a:gd name="adj" fmla="val 8333"/>
            </a:avLst>
          </a:prstGeom>
          <a:solidFill>
            <a:srgbClr val="E5E3D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95928" y="425196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rtl.sv:72</a:t>
            </a:r>
            <a:endParaRPr lang="en-US" sz="850" dirty="0"/>
          </a:p>
          <a:p>
            <a:pPr algn="ctr" indent="0" marL="0">
              <a:lnSpc>
                <a:spcPts val="1200"/>
              </a:lnSpc>
              <a:buNone/>
            </a:pPr>
            <a:r>
              <a:rPr lang="en-US" sz="8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wrote 0</a:t>
            </a:r>
            <a:endParaRPr lang="en-US" sz="85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983480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writers — only one of them actually settled the value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760720" y="2514600"/>
            <a:ext cx="685800" cy="82296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V="1">
            <a:off x="5760720" y="3703320"/>
            <a:ext cx="685800" cy="82296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446520" y="1463040"/>
            <a:ext cx="516636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75120" y="166420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JOIN, AT REPORT TIME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205740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711696" y="2057400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rec_value_at(name, tick)  →  settled value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006840" y="2651760"/>
            <a:ext cx="0" cy="32004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675120" y="299923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11696" y="2999232"/>
            <a:ext cx="45902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exec_active_idx(name, tick, value)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006840" y="3593592"/>
            <a:ext cx="0" cy="32004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675120" y="3931920"/>
            <a:ext cx="4663440" cy="658368"/>
          </a:xfrm>
          <a:prstGeom prst="roundRect">
            <a:avLst>
              <a:gd name="adj" fmla="val 11111"/>
            </a:avLst>
          </a:prstGeom>
          <a:solidFill>
            <a:srgbClr val="3D4F6E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6711696" y="3931920"/>
            <a:ext cx="45902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driving line: rtl.sv:58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6675120" y="47548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SETTLED value — picking the last statement instead is the classic bug.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8640" y="5577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22960" y="557784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hot paths — fixed arrays, no malloc, O(1) append. They can fire thousands of times without slowing the simulation.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READ-BACK — NO FURTHER VPI QUERIES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3: Turning History Into Reports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51760" cy="320040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373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2084832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68096" y="2084832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g_records[]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1520" y="2596896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8096" y="2596896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g_execs[]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" y="3108960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g_cone_list[]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31520" y="3621024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68096" y="3621024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g_meta[]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31520" y="4133088"/>
            <a:ext cx="2286000" cy="420624"/>
          </a:xfrm>
          <a:prstGeom prst="roundRect">
            <a:avLst>
              <a:gd name="adj" fmla="val 17391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68096" y="4133088"/>
            <a:ext cx="2212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g_edge_*[]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0" y="2834640"/>
            <a:ext cx="2103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875">
            <a:solidFill>
              <a:srgbClr val="3D4F6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694176" y="283464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end_of_sim_cb()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3154680"/>
            <a:ext cx="457200" cy="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3657600" y="352044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once — already_called guard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 flipV="1">
            <a:off x="5760720" y="2331720"/>
            <a:ext cx="502920" cy="68580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760720" y="3291840"/>
            <a:ext cx="502920" cy="914400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63640" y="1554480"/>
            <a:ext cx="534924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trace_output.json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058400" y="175564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AUTOMATION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contract our harness diffs against VDT.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signal: value in bin/hex/dec, role, active-writer line, transitions.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field order — stable diffs.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3703320"/>
            <a:ext cx="534924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92240" y="38862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D4F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report.html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8400" y="3904488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058400" y="3904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HUMANS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4251960"/>
            <a:ext cx="49377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— embeds its own CSS and JS, opens anywhere.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banner, colour-coded fan-in tree, per-signal timeline cards, live search.</a:t>
            </a:r>
            <a:endParaRPr lang="en-US" sz="1050" dirty="0"/>
          </a:p>
          <a:p>
            <a:pPr marL="342900" indent="-3429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Colours come straight from the SEED / CONTROL / DATA roles.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4983480"/>
            <a:ext cx="5212080" cy="1097280"/>
          </a:xfrm>
          <a:prstGeom prst="roundRect">
            <a:avLst>
              <a:gd name="adj" fmla="val 5000"/>
            </a:avLst>
          </a:prstGeom>
          <a:solidFill>
            <a:srgbClr val="E5E3D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77240" y="513892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CRAFTSMANSHIP DETAIL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777240" y="5367528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bin_to_hex and bin_to_dec each own a separate static buffer — sharing one caused a classic aliasing bug.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IS ONE EDGE SOURCE SWITCHING ON — UDP-PRIMITIVE TESTBENCH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Proof: Cone Growth From 2 to 39 Against VDT’s 40</a:t>
            </a:r>
            <a:endParaRPr lang="en-US" sz="27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38160" y="1554480"/>
            <a:ext cx="3474720" cy="448056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21040" y="1755648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STEP ADDED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212140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961120" y="21031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assigns and processes inside one module only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8321040" y="289864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8961120" y="28803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hops let the cone cross instance boundaries</a:t>
            </a:r>
            <a:endParaRPr lang="en-US" sz="950" dirty="0"/>
          </a:p>
        </p:txBody>
      </p:sp>
      <p:sp>
        <p:nvSpPr>
          <p:cNvPr id="11" name="Text 8"/>
          <p:cNvSpPr txBox="1"/>
          <p:nvPr/>
        </p:nvSpPr>
        <p:spPr>
          <a:xfrm>
            <a:off x="8321040" y="367588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961120" y="36576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edges pull in enables, resets and conditions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445312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4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8961120" y="44348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and primitive edges complete the clock leg</a:t>
            </a:r>
            <a:endParaRPr lang="en-US" sz="950" dirty="0"/>
          </a:p>
        </p:txBody>
      </p:sp>
      <p:sp>
        <p:nvSpPr>
          <p:cNvPr id="15" name="Text 12"/>
          <p:cNvSpPr txBox="1"/>
          <p:nvPr/>
        </p:nvSpPr>
        <p:spPr>
          <a:xfrm>
            <a:off x="8321040" y="5230368"/>
            <a:ext cx="566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8961120" y="52120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VDT reference — a one-signal gap, not a missing class of structure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BIG IDEAS, AND THE DISCIPLINES AROUND THEM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Learnings and Design Decisions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83244"/>
          </a:solidFill>
          <a:ln w="12700">
            <a:solidFill>
              <a:srgbClr val="28324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VPI is event-driven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ask for the past. The three-phase shape is forced by the platform, not chosen by us.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83244"/>
          </a:solidFill>
          <a:ln w="12700">
            <a:solidFill>
              <a:srgbClr val="28324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772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Behavioural RTL has no drivers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vpi_iterate(vpiDriver) is empty — so reconstructing the graph IS the engineering value.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463040"/>
            <a:ext cx="3520440" cy="2286000"/>
          </a:xfrm>
          <a:prstGeom prst="roundRect">
            <a:avLst>
              <a:gd name="adj" fmla="val 2400"/>
            </a:avLst>
          </a:prstGeom>
          <a:solidFill>
            <a:srgbClr val="283244"/>
          </a:solidFill>
          <a:ln w="12700">
            <a:solidFill>
              <a:srgbClr val="2832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162763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AEBAC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21488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VDT means crossing boundaries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278892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Ports, guards, clocks and primitives are exactly what the naive walk stops at.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97764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20" kern="0" dirty="0">
                <a:solidFill>
                  <a:srgbClr val="3D4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DISCIPLINES THAT COMPOUND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43159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44165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labels from results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49808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tagging uses its own set, so it cannot affect any other testbench.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43400" y="43159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44568" y="44165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shared buffers at once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vpi_get_str hands back memory the next call overwrites.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38160" y="43159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339328" y="44165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every callback struct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46634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Stale stack bytes become garbage fields — and crashes.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52303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5330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each helper its own buffer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5577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static buffers caused a real aliasing bug.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343400" y="52303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544568" y="5330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only the cone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44568" y="5577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Bounded, relevant history instead of a flooded buffer.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8138160" y="5230368"/>
            <a:ext cx="3520440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39328" y="5330952"/>
            <a:ext cx="3154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arrays inside a simulator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8339328" y="557784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memory and no leaks, at the cost of caps.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10896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6673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STORY, END TO END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Summary: One Map, Three Phases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6459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ONCE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0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79776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signals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041648" y="216712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151376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187952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flops &amp; clocks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49824" y="216712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59552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596128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 (5 sources)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858000" y="216712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967728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04304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target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66176" y="216712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375904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0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cone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74352" y="216712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784080" y="1892808"/>
            <a:ext cx="128016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820656" y="1892808"/>
            <a:ext cx="120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cone + hook stmts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080760" y="2825496"/>
            <a:ext cx="0" cy="192024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3035808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E5E3D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320040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66738A"/>
          </a:solidFill>
          <a:ln w="12700">
            <a:solidFill>
              <a:srgbClr val="66738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3200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777240" y="3566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2743200" y="344728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779776" y="34472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value_change_cb → g_records[]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138928" y="372160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248656" y="344728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85232" y="344728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stmt_exec_cb → g_execs[]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0760" y="4379976"/>
            <a:ext cx="0" cy="192024"/>
          </a:xfrm>
          <a:prstGeom prst="line">
            <a:avLst/>
          </a:prstGeom>
          <a:noFill/>
          <a:ln w="19050">
            <a:solidFill>
              <a:srgbClr val="3D4F6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48640" y="4590288"/>
            <a:ext cx="1106424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AEBAC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475488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3D4F6E"/>
          </a:solidFill>
          <a:ln w="12700">
            <a:solidFill>
              <a:srgbClr val="3D4F6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77240" y="4754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" y="5120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743200" y="50017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779776" y="500176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buffers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138928" y="527608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248656" y="50017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285232" y="500176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trace_output.json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644384" y="5276088"/>
            <a:ext cx="91440" cy="0"/>
          </a:xfrm>
          <a:prstGeom prst="line">
            <a:avLst/>
          </a:prstGeom>
          <a:noFill/>
          <a:ln w="19050">
            <a:solidFill>
              <a:srgbClr val="66738A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7754112" y="5001768"/>
            <a:ext cx="2377440" cy="548640"/>
          </a:xfrm>
          <a:prstGeom prst="roundRect">
            <a:avLst>
              <a:gd name="adj" fmla="val 13333"/>
            </a:avLst>
          </a:prstGeom>
          <a:solidFill>
            <a:srgbClr val="E5E3DF"/>
          </a:solidFill>
          <a:ln w="15875">
            <a:solidFill>
              <a:srgbClr val="AEBACB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790688" y="5001768"/>
            <a:ext cx="23042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report.html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8640" y="6053328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283244"/>
          </a:solidFill>
          <a:ln w="12700">
            <a:solidFill>
              <a:srgbClr val="E5E3DF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22960" y="60533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graph once at start · let two callbacks record history during the run · read that history back at the end to explain what drove the target.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1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83244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21945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868680" y="3291840"/>
            <a:ext cx="1463040" cy="0"/>
          </a:xfrm>
          <a:prstGeom prst="line">
            <a:avLst/>
          </a:prstGeom>
          <a:noFill/>
          <a:ln w="25400">
            <a:solidFill>
              <a:srgbClr val="AEBAC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3520440"/>
            <a:ext cx="6675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database-free reconstruction of VDT’s driver cone — proven by a 39-of-40 signal match with identical role labelling.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0" y="173736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323D52"/>
          </a:solidFill>
          <a:ln w="12700">
            <a:solidFill>
              <a:srgbClr val="46536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0" y="186537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 / 40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41248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matched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0" y="320040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323D52"/>
          </a:solidFill>
          <a:ln w="12700">
            <a:solidFill>
              <a:srgbClr val="46536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0" y="332841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841248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sources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0" y="4663440"/>
            <a:ext cx="3108960" cy="1188720"/>
          </a:xfrm>
          <a:prstGeom prst="roundRect">
            <a:avLst>
              <a:gd name="adj" fmla="val 4615"/>
            </a:avLst>
          </a:prstGeom>
          <a:solidFill>
            <a:srgbClr val="323D52"/>
          </a:solidFill>
          <a:ln w="12700">
            <a:solidFill>
              <a:srgbClr val="46536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0" y="479145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0" y="53766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E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DBs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2026-09-14T04:01:53Z</dcterms:created>
  <dcterms:modified xsi:type="dcterms:W3CDTF">2026-09-14T04:01:53Z</dcterms:modified>
</cp:coreProperties>
</file>